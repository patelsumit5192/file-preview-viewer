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Sz cx="9144000" cy="5143500"/>
  <p:sldIdLst>
    <p:sldId id="256" r:id="rIdSld1"/>
    <p:sldId id="257" r:id="rIdSld2"/>
    <p:sldId id="258" r:id="rIdSld3"/>
    <p:sldId id="259" r:id="rIdSld4"/>
    <p:sldId id="260" r:id="rIdSld5"/>
    <p:sldId id="261" r:id="rIdSld6"/>
  </p:sldIdLst>
</p:presentation>
</file>

<file path=ppt/_rels/presentation.xml.rels><?xml version="1.0" encoding="UTF-8" standalone="yes"?><Relationships xmlns="http://schemas.openxmlformats.org/package/2006/relationships"><Relationship Id="rIdSld1" Type="http://schemas.openxmlformats.org/officeDocument/2006/relationships/slide" Target="slides/slide1.xml"/><Relationship Id="rIdSld2" Type="http://schemas.openxmlformats.org/officeDocument/2006/relationships/slide" Target="slides/slide2.xml"/><Relationship Id="rIdSld3" Type="http://schemas.openxmlformats.org/officeDocument/2006/relationships/slide" Target="slides/slide3.xml"/><Relationship Id="rIdSld4" Type="http://schemas.openxmlformats.org/officeDocument/2006/relationships/slide" Target="slides/slide4.xml"/><Relationship Id="rIdSld5" Type="http://schemas.openxmlformats.org/officeDocument/2006/relationships/slide" Target="slides/slide5.xml"/><Relationship Id="rIdSld6" Type="http://schemas.openxmlformats.org/officeDocument/2006/relationships/slide" Target="slides/slide6.xml"/></Relationships>
</file>

<file path=ppt/slides/_rels/slide1.xml.rels><?xml version="1.0" encoding="UTF-8" standalone="yes"?><Relationships xmlns="http://schemas.openxmlformats.org/package/2006/relationships"><Relationship Id="rIdImg1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Img1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Img1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Img1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Img1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Img1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Executive Presentation: Cloud Native Scale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Modernization of core distributed services across global regions.</a:t>
            </a:r>
          </a:p>
        </p:txBody>
      </p:sp>
    </p:spTree>
  </p:cSld>
</p:sld>
</file>

<file path=ppt/slides/slide2.xml><?xml version="1.0" encoding="UTF-8" standalone="yes"?>
<p:sld xmlns:p="http://schemas.openxmlformats.org/presentationml/2006/main"
       xmlns:a="http://schemas.openxmlformats.org/drawingml/2006/main">
  <p:cSld>
    <p:spTree>
      <p:nvGrpSpPr><p:cNvPr id="1" name=""/><p:cNvGrpSpPr/><p:grpSpPr/></p:nvGrpSpPr>
      <p:sp>
        <p:nvSpPr><p:cNvPr id="2" name="Title"/><p:cNvSpPr><a:spLocks noGrp="1"/></p:cNvSpPr><p:nvPr/></p:nvSpPr>
        <p:spPr><a:xfrm><a:off x="800000" y="500000"/><a:ext cx="7500000" cy="800000"/></a:xfrm></p:spPr>
        <p:txBody><a:bodyPr/><a:p><a:r><a:rPr sz="3600" b="1"><a:solidFill><a:srgbClr val="1E293B"/></a:solidFill></a:rPr><a:t>Telemetry Dashboard & Performance</a:t></a:r></a:p></p:txBody>
      </p:sp>
      <p:sp>
        <p:nvSpPr><p:cNvPr id="3" name="Content"/><p:cNvSpPr><a:spLocks noGrp="1"/></p:cNvSpPr><p:nvPr/></p:nvSpPr>
        <p:spPr><a:xfrm><a:off x="800000" y="1600000"/><a:ext cx="7500000" cy="3000000"/></a:xfrm></p:spPr>
        <p:txBody><a:bodyPr/>
          <a:p><a:r><a:rPr sz="2000"><a:solidFill><a:srgbClr val="475569"/></a:solidFill></a:rPr><a:t>Real-time metrics streaming over secure TLS websockets.</a:t></a:r></a:p>
        </p:txBody>
      </p:sp>
    </p:spTree>
  </p:cSld>
</p:sld>
</file>

<file path=ppt/slides/slide3.xml><?xml version="1.0" encoding="UTF-8" standalone="yes"?>
<p:sld xmlns:p="http://schemas.openxmlformats.org/presentationml/2006/main"
       xmlns:a="http://schemas.openxmlformats.org/drawingml/2006/main">
  <p:cSld>
    <p:spTree>
      <p:nvGrpSpPr><p:cNvPr id="1" name=""/><p:cNvGrpSpPr/><p:grpSpPr/></p:nvGrpSpPr>
      <p:sp>
        <p:nvSpPr><p:cNvPr id="2" name="Title"/><p:cNvSpPr><a:spLocks noGrp="1"/></p:cNvSpPr><p:nvPr/></p:nvSpPr>
        <p:spPr><a:xfrm><a:off x="800000" y="500000"/><a:ext cx="7500000" cy="800000"/></a:xfrm></p:spPr>
        <p:txBody><a:bodyPr/><a:p><a:r><a:rPr sz="3600" b="1"><a:solidFill><a:srgbClr val="1E293B"/></a:solidFill></a:rPr><a:t>Throughput Benchmarks</a:t></a:r></a:p></p:txBody>
      </p:sp>
      <p:sp>
        <p:nvSpPr><p:cNvPr id="3" name="Content"/><p:cNvSpPr><a:spLocks noGrp="1"/></p:cNvSpPr><p:nvPr/></p:nvSpPr>
        <p:spPr><a:xfrm><a:off x="800000" y="1600000"/><a:ext cx="7500000" cy="3000000"/></a:xfrm></p:spPr>
        <p:txBody><a:bodyPr/>
          <a:p><a:r><a:rPr sz="2000"><a:solidFill><a:srgbClr val="475569"/></a:solidFill></a:rPr><a:t>Processing 2.4 million transactions per second with P99 < 5ms.</a:t></a:r></a:p>
        </p:txBody>
      </p:sp>
    </p:spTree>
  </p:cSld>
</p:sld>
</file>

<file path=ppt/slides/slide4.xml><?xml version="1.0" encoding="UTF-8" standalone="yes"?>
<p:sld xmlns:p="http://schemas.openxmlformats.org/presentationml/2006/main"
       xmlns:a="http://schemas.openxmlformats.org/drawingml/2006/main">
  <p:cSld>
    <p:spTree>
      <p:nvGrpSpPr><p:cNvPr id="1" name=""/><p:cNvGrpSpPr/><p:grpSpPr/></p:nvGrpSpPr>
      <p:sp>
        <p:nvSpPr><p:cNvPr id="2" name="Title"/><p:cNvSpPr><a:spLocks noGrp="1"/></p:cNvSpPr><p:nvPr/></p:nvSpPr>
        <p:spPr><a:xfrm><a:off x="800000" y="500000"/><a:ext cx="7500000" cy="800000"/></a:xfrm></p:spPr>
        <p:txBody><a:bodyPr/><a:p><a:r><a:rPr sz="3600" b="1"><a:solidFill><a:srgbClr val="1E293B"/></a:solidFill></a:rPr><a:t>Resiliency & Failover Strategy</a:t></a:r></a:p></p:txBody>
      </p:sp>
      <p:sp>
        <p:nvSpPr><p:cNvPr id="3" name="Content"/><p:cNvSpPr><a:spLocks noGrp="1"/></p:cNvSpPr><p:nvPr/></p:nvSpPr>
        <p:spPr><a:xfrm><a:off x="800000" y="1600000"/><a:ext cx="7500000" cy="3000000"/></a:xfrm></p:spPr>
        <p:txBody><a:bodyPr/>
          <a:p><a:r><a:rPr sz="2000"><a:solidFill><a:srgbClr val="475569"/></a:solidFill></a:rPr><a:t>Automated Raft leader re-election with zero data loss.</a:t></a:r>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Security Architecture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Hardware security modules (HSM) and KMS key rotation.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sp>
        <p:nvSpPr>
          <p:cNvPr id="2" name="Title"/>
          <p:cNvSpPr>
            <a:spLocks noGrp="1"/>
          </p:cNvSpPr>
          <p:nvPr/>
        </p:nvSpPr>
        <p:spPr>
          <a:xfrm>
            <a:off x="800000" y="500000"/>
            <a:ext cx="7500000" cy="800000"/>
          </a:xfrm>
        </p:spPr>
        <p:txBody>
          <a:bodyPr/>
          <a:p>
            <a:r>
              <a:rPr sz="3600" b="1">
                <a:solidFill>
                  <a:srgbClr val="1E293B"/>
                </a:solidFill>
              </a:rPr>
              <a:t>Financial ROI Matrix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00000" y="1600000"/>
            <a:ext cx="7500000" cy="3000000"/>
          </a:xfrm>
        </p:spPr>
        <p:txBody>
          <a:bodyPr/>
          <a:p>
            <a:r>
              <a:rPr sz="2000">
                <a:solidFill>
                  <a:srgbClr val="475569"/>
                </a:solidFill>
              </a:rPr>
              <a:t>Projected 35% reduction in overall operating expenditure.</a:t>
            </a:r>
          </a:p>
        </p:txBody>
      </p:sp>
    </p:spTree>
  </p:cSld>
</p:sld>
</file>