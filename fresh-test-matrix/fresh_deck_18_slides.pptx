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9144000" cy="5143500"/>
  <p:sldIdLst>
    <p:sldId id="256" r:id="rIdSld1"/>
    <p:sldId id="257" r:id="rIdSld2"/>
    <p:sldId id="258" r:id="rIdSld3"/>
    <p:sldId id="259" r:id="rIdSld4"/>
    <p:sldId id="260" r:id="rIdSld5"/>
    <p:sldId id="261" r:id="rIdSld6"/>
    <p:sldId id="262" r:id="rIdSld7"/>
    <p:sldId id="263" r:id="rIdSld8"/>
    <p:sldId id="264" r:id="rIdSld9"/>
    <p:sldId id="265" r:id="rIdSld10"/>
    <p:sldId id="266" r:id="rIdSld11"/>
    <p:sldId id="267" r:id="rIdSld12"/>
    <p:sldId id="268" r:id="rIdSld13"/>
    <p:sldId id="269" r:id="rIdSld14"/>
    <p:sldId id="270" r:id="rIdSld15"/>
    <p:sldId id="271" r:id="rIdSld16"/>
    <p:sldId id="272" r:id="rIdSld17"/>
    <p:sldId id="273" r:id="rIdSld18"/>
  </p:sldIdLst>
</p:presentation>
</file>

<file path=ppt/_rels/presentation.xml.rels><?xml version="1.0" encoding="UTF-8" standalone="yes"?>
<Relationships xmlns="http://schemas.openxmlformats.org/package/2006/relationships">
  <Relationship Id="rIdSld1" Type="http://schemas.openxmlformats.org/officeDocument/2006/relationships/slide" Target="slides/slide1.xml"/><Relationship Id="rIdSld2" Type="http://schemas.openxmlformats.org/officeDocument/2006/relationships/slide" Target="slides/slide2.xml"/><Relationship Id="rIdSld3" Type="http://schemas.openxmlformats.org/officeDocument/2006/relationships/slide" Target="slides/slide3.xml"/><Relationship Id="rIdSld4" Type="http://schemas.openxmlformats.org/officeDocument/2006/relationships/slide" Target="slides/slide4.xml"/><Relationship Id="rIdSld5" Type="http://schemas.openxmlformats.org/officeDocument/2006/relationships/slide" Target="slides/slide5.xml"/><Relationship Id="rIdSld6" Type="http://schemas.openxmlformats.org/officeDocument/2006/relationships/slide" Target="slides/slide6.xml"/><Relationship Id="rIdSld7" Type="http://schemas.openxmlformats.org/officeDocument/2006/relationships/slide" Target="slides/slide7.xml"/><Relationship Id="rIdSld8" Type="http://schemas.openxmlformats.org/officeDocument/2006/relationships/slide" Target="slides/slide8.xml"/><Relationship Id="rIdSld9" Type="http://schemas.openxmlformats.org/officeDocument/2006/relationships/slide" Target="slides/slide9.xml"/><Relationship Id="rIdSld10" Type="http://schemas.openxmlformats.org/officeDocument/2006/relationships/slide" Target="slides/slide10.xml"/><Relationship Id="rIdSld11" Type="http://schemas.openxmlformats.org/officeDocument/2006/relationships/slide" Target="slides/slide11.xml"/><Relationship Id="rIdSld12" Type="http://schemas.openxmlformats.org/officeDocument/2006/relationships/slide" Target="slides/slide12.xml"/><Relationship Id="rIdSld13" Type="http://schemas.openxmlformats.org/officeDocument/2006/relationships/slide" Target="slides/slide13.xml"/><Relationship Id="rIdSld14" Type="http://schemas.openxmlformats.org/officeDocument/2006/relationships/slide" Target="slides/slide14.xml"/><Relationship Id="rIdSld15" Type="http://schemas.openxmlformats.org/officeDocument/2006/relationships/slide" Target="slides/slide15.xml"/><Relationship Id="rIdSld16" Type="http://schemas.openxmlformats.org/officeDocument/2006/relationships/slide" Target="slides/slide16.xml"/><Relationship Id="rIdSld17" Type="http://schemas.openxmlformats.org/officeDocument/2006/relationships/slide" Target="slides/slide17.xml"/><Relationship Id="rIdSld18" Type="http://schemas.openxmlformats.org/officeDocument/2006/relationships/slide" Target="slides/slide18.xml"/>
</Relationships>
</file>

<file path=ppt/slides/_rels/slide1.xml.rels><?xml version="1.0" encoding="UTF-8" standalone="yes"?>
<Relationships xmlns="http://schemas.openxmlformats.org/package/2006/relationships">
  
</Relationships>
</file>

<file path=ppt/slides/_rels/slide2.xml.rels><?xml version="1.0" encoding="UTF-8" standalone="yes"?>
<Relationships xmlns="http://schemas.openxmlformats.org/package/2006/relationships">
  
</Relationships>
</file>

<file path=ppt/slides/_rels/slide3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
</Relationships>
</file>

<file path=ppt/slides/_rels/slide5.xml.rels><?xml version="1.0" encoding="UTF-8" standalone="yes"?>
<Relationships xmlns="http://schemas.openxmlformats.org/package/2006/relationships">
  
</Relationships>
</file>

<file path=ppt/slides/_rels/slide6.xml.rels><?xml version="1.0" encoding="UTF-8" standalone="yes"?>
<Relationships xmlns="http://schemas.openxmlformats.org/package/2006/relationships">
  
</Relationships>
</file>

<file path=ppt/slides/_rels/slide7.xml.rels><?xml version="1.0" encoding="UTF-8" standalone="yes"?>
<Relationships xmlns="http://schemas.openxmlformats.org/package/2006/relationships">
  
</Relationships>
</file>

<file path=ppt/slides/_rels/slide8.xml.rels><?xml version="1.0" encoding="UTF-8" standalone="yes"?>
<Relationships xmlns="http://schemas.openxmlformats.org/package/2006/relationships">
  
</Relationships>
</file>

<file path=ppt/slides/_rels/slide9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
</Relationships>
</file>

<file path=ppt/slides/_rels/slide11.xml.rels><?xml version="1.0" encoding="UTF-8" standalone="yes"?>
<Relationships xmlns="http://schemas.openxmlformats.org/package/2006/relationships">
  
</Relationships>
</file>

<file path=ppt/slides/_rels/slide12.xml.rels><?xml version="1.0" encoding="UTF-8" standalone="yes"?>
<Relationships xmlns="http://schemas.openxmlformats.org/package/2006/relationships">
  
</Relationships>
</file>

<file path=ppt/slides/_rels/slide13.xml.rels><?xml version="1.0" encoding="UTF-8" standalone="yes"?>
<Relationships xmlns="http://schemas.openxmlformats.org/package/2006/relationships">
  
</Relationships>
</file>

<file path=ppt/slides/_rels/slide14.xml.rels><?xml version="1.0" encoding="UTF-8" standalone="yes"?>
<Relationships xmlns="http://schemas.openxmlformats.org/package/2006/relationships">
  
</Relationships>
</file>

<file path=ppt/slides/_rels/slide15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</Relationships>
</file>

<file path=ppt/slides/_rels/slide16.xml.rels><?xml version="1.0" encoding="UTF-8" standalone="yes"?>
<Relationships xmlns="http://schemas.openxmlformats.org/package/2006/relationships">
  
</Relationships>
</file>

<file path=ppt/slides/_rels/slide17.xml.rels><?xml version="1.0" encoding="UTF-8" standalone="yes"?>
<Relationships xmlns="http://schemas.openxmlformats.org/package/2006/relationships">
  
</Relationships>
</file>

<file path=ppt/slides/_rels/slide18.xml.rels><?xml version="1.0" encoding="UTF-8" standalone="yes"?>
<Relationships xmlns="http://schemas.openxmlformats.org/package/2006/relationships">
  
</Relationships>
</file>

<file path=ppt/slides/slide1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1. Enterprise Architecture &amp; Scalability</a:t></a:r>
          </a:p>
          <a:p>
            <a:pPr algn="l"/>
            <a:r><a:rPr sz="1400"><a:solidFill><a:srgbClr val="94a3b8"/></a:solidFill></a:rPr><a:t>Slide 1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enterprise architecture &amp; scalability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2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2. Universal Client-Side File Rendering</a:t></a:r>
          </a:p>
          <a:p>
            <a:pPr algn="l"/>
            <a:r><a:rPr sz="1400"><a:solidFill><a:srgbClr val="94a3b8"/></a:solidFill></a:rPr><a:t>Slide 2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universal client-side file rendering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3. Low-Latency Binary Stream Parsing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Comprehensive engineering validation of low-latency binary stream parsing under enterprise load conditions.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4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4. Zero-Cloud Egress Security Paradigm</a:t></a:r>
          </a:p>
          <a:p>
            <a:pPr algn="l"/>
            <a:r><a:rPr sz="1400"><a:solidFill><a:srgbClr val="94a3b8"/></a:solidFill></a:rPr><a:t>Slide 4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zero-cloud egress security paradigm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5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5. Decentralized Consensus Protocol</a:t></a:r>
          </a:p>
          <a:p>
            <a:pPr algn="l"/>
            <a:r><a:rPr sz="1400"><a:solidFill><a:srgbClr val="94a3b8"/></a:solidFill></a:rPr><a:t>Slide 5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decentralized consensus protocol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6. Distributed Event Streaming Topology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7. Fault-Tolerant High-Availability Clusters</a:t></a:r>
          </a:p>
          <a:p>
            <a:pPr algn="l"/>
            <a:r><a:rPr sz="1400"><a:solidFill><a:srgbClr val="94a3b8"/></a:solidFill></a:rPr><a:t>Slide 7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fault-tolerant high-availability clusters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8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8. High-Throughput IO Virtualization</a:t></a:r>
          </a:p>
          <a:p>
            <a:pPr algn="l"/>
            <a:r><a:rPr sz="1400"><a:solidFill><a:srgbClr val="94a3b8"/></a:solidFill></a:rPr><a:t>Slide 8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high-throughput io virtualization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9. Vector Math &amp; Graphic Acceleration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Comprehensive engineering validation of vector math &amp; graphic acceleration under enterprise load conditions.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10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10. Real-Time Telemetry &amp; Monitoring Matrix</a:t></a:r>
          </a:p>
          <a:p>
            <a:pPr algn="l"/>
            <a:r><a:rPr sz="1400"><a:solidFill><a:srgbClr val="94a3b8"/></a:solidFill></a:rPr><a:t>Slide 10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real-time telemetry &amp; monitoring matrix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1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11. Cryptographic Integrity &amp; SHA-256 Assurance</a:t></a:r>
          </a:p>
          <a:p>
            <a:pPr algn="l"/>
            <a:r><a:rPr sz="1400"><a:solidFill><a:srgbClr val="94a3b8"/></a:solidFill></a:rPr><a:t>Slide 11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cryptographic integrity &amp; sha-256 assurance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12. Cross-Platform Web Worker Orchestration</a:t>
            </a:r>
          </a:p>
        </p:txBody>
      </p:sp>
      <!-- Table graphicFrame -->
      <p:graphicFrame>
        <p:nvGraphicFramePr>
          <p:cNvPr id="3" name="Table Grid"/>
          <p:cNvGraphicFramePr/>
          <p:nvPr/>
        </p:nvGraphicFramePr>
        <p:xfrm>
          <a:off x="685800" y="1371600"/>
          <a:ext cx="7772400" cy="2743200"/>
        </p:xfrm>
        <a:graphic>
          <a:graphicData uri="http://schemas.openxmlformats.org/drawingml/2006/table">
            <a:tbl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Target 2026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Client Latency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240 ms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4.2 ms</a:t>
                      </a:r>
                    </a:p>
                  </a:txBody>
                </a:tc>
              </a:tr>
              <a:tr h="685800">
                <a:tc>
                  <a:txBody>
                    <a:bodyPr/>
                    <a:p>
                      <a:r>
                        <a:t>Cloud Egress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$128,000 / mo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$0.00 (Zero)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13. Multi-Tenant Memory Isolation Bounds</a:t></a:r>
          </a:p>
          <a:p>
            <a:pPr algn="l"/>
            <a:r><a:rPr sz="1400"><a:solidFill><a:srgbClr val="94a3b8"/></a:solidFill></a:rPr><a:t>Slide 13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multi-tenant memory isolation bounds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4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14. Microsecond P99 SLA Enforcement</a:t></a:r>
          </a:p>
          <a:p>
            <a:pPr algn="l"/>
            <a:r><a:rPr sz="1400"><a:solidFill><a:srgbClr val="94a3b8"/></a:solidFill></a:rPr><a:t>Slide 14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microsecond p99 sla enforcement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Title -->
      <p:sp>
        <p:nvSpPr>
          <p:cNvPr id="2" name="Title"/>
          <p:cNvSpPr/>
          <p:nvPr/>
        </p:nvSpPr>
        <p:spPr>
          <a:xfrm>
            <a:off x="685800" y="365760"/>
            <a:ext cx="7772400" cy="731520"/>
          </a:xfrm>
        </p:spPr>
        <p:txBody>
          <a:bodyPr/>
          <a:lstStyle/>
          <a:p>
            <a:pPr algn="l"/>
            <a:r>
              <a:rPr sz="2800" b="1"/>
              <a:t>15. Dynamic Resource Allocation &amp; Caching</a:t>
            </a:r>
          </a:p>
        </p:txBody>
      </p:sp>
      <!-- Text Description -->
      <p:sp>
        <p:nvSpPr>
          <p:cNvPr id="3" name="Description"/>
          <p:cNvSpPr/>
          <p:nvPr/>
        </p:nvSpPr>
        <p:spPr>
          <a:xfrm>
            <a:off x="685800" y="1371600"/>
            <a:ext cx="4343400" cy="3200400"/>
          </a:xfrm>
        </p:spPr>
        <p:txBody>
          <a:bodyPr/>
          <a:lstStyle/>
          <a:p>
            <a:pPr algn="l"/>
            <a:r>
              <a:rPr sz="1800"/>
              <a:t>Comprehensive engineering validation of dynamic resource allocation &amp; caching under enterprise load conditions.</a:t>
            </a:r>
          </a:p>
          <a:p>
            <a:pPr algn="l"/>
            <a:r>
              <a:rPr sz="1600" b="1"/>
              <a:t>• Architecture: Zero-copy in-memory rendering</a:t>
            </a:r>
          </a:p>
          <a:p>
            <a:pPr algn="l"/>
            <a:r>
              <a:rPr sz="1600"/>
              <a:t>• Security: Sandboxed client-side processing</a:t>
            </a:r>
          </a:p>
        </p:txBody>
      </p:sp>
      <!-- Picture -->
      <p:pic>
        <p:nvPicPr>
          <p:cNvPr id="4" name="Visual Image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257800" y="1371600"/>
            <a:ext cx="3200400" cy="2743200"/>
          </a:xfrm>
        </p:spPr>
      </p:pic>
    </p:spTree>
  </p:cSld>
</p:sld>
</file>

<file path=ppt/slides/slide16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293b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16. Immutable Ledger Audit Sequences</a:t></a:r>
          </a:p>
          <a:p>
            <a:pPr algn="l"/>
            <a:r><a:rPr sz="1400"><a:solidFill><a:srgbClr val="94a3b8"/></a:solidFill></a:rPr><a:t>Slide 16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immutable ledger audit sequences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7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1e40af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17. Adaptive Content Layout &amp; Responsive Zoom</a:t></a:r>
          </a:p>
          <a:p>
            <a:pPr algn="l"/>
            <a:r><a:rPr sz="1400"><a:solidFill><a:srgbClr val="94a3b8"/></a:solidFill></a:rPr><a:t>Slide 17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adaptive content layout &amp; responsive zoom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

<file path=ppt/slides/slide18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spTree>
      <p:nvGrpSpPr><p:cNvPr id="1" name=""/><p:cNvGrpSpPr/><p:nvPr/></p:nvGrpSpPr>
      <p:grpSpPr/>
      <!-- Header Banner Shape -->
      <p:sp>
        <p:nvSpPr><p:cNvPr id="2" name="Banner"/><p:cNvSpPr/><p:nvPr/></p:nvSpPr>
        <p:spPr>
          <a:xfrm><a:off x="685800" y="365760"/><a:ext cx="7772400" cy="822960"/></a:xfrm>
          <a:solidFill><a:srgbClr val="0f766e"/></a:solidFill>
          <a:prstGeom prst="roundRect"><a:avLst/></a:prstGeom>
        </p:spPr>
        <p:txBody>
          <a:bodyPr/><a:lstStyle/>
          <a:p>
            <a:pPr algn="l"/>
            <a:r><a:rPr sz="2400" b="1"><a:solidFill><a:srgbClr val="ffffff"/></a:solidFill></a:rPr><a:t>18. Next-Gen Product Roadmap &amp; Milestone Horizon</a:t></a:r>
          </a:p>
          <a:p>
            <a:pPr algn="l"/>
            <a:r><a:rPr sz="1400"><a:solidFill><a:srgbClr val="94a3b8"/></a:solidFill></a:rPr><a:t>Slide 18 of 18 · Enterprise Systems Architecture</a:t></a:r>
          </a:p>
        </p:txBody>
      </p:sp>
      <!-- Content Card 1 -->
      <p:sp>
        <p:nvSpPr><p:cNvPr id="3" name="Card 1"/><p:cNvSpPr/><p:nvPr/></p:nvSpPr>
        <p:spPr>
          <a:xfrm><a:off x="68580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Key Capabilities</a:t></a:r>
          </a:p>
          <a:p>
            <a:pPr algn="l"/>
            <a:r><a:rPr sz="1500"><a:solidFill><a:srgbClr val="334155"/></a:solidFill></a:rPr><a:t>Comprehensive engineering validation of next-gen product roadmap &amp; milestone horizon under enterprise load conditions.</a:t></a:r>
          </a:p>
          <a:p>
            <a:pPr algn="l"/>
            <a:r><a:rPr sz="1400"><a:solidFill><a:srgbClr val="2563eb"/></a:solidFill></a:rPr><a:t>✓ Verification Passed: 100% Client-side</a:t></a:r>
          </a:p>
        </p:txBody>
      </p:sp>
      <!-- Content Card 2 -->
      <p:sp>
        <p:nvSpPr><p:cNvPr id="4" name="Card 2"/><p:cNvSpPr/><p:nvPr/></p:nvSpPr>
        <p:spPr>
          <a:xfrm><a:off x="4754880" y="1463040"/><a:ext cx="3703320" cy="3108960"/></a:xfrm>
          <a:solidFill><a:srgbClr val="f8fafc"/></a:solidFill>
          <a:prstGeom prst="roundRect"><a:avLst/></a:prstGeom>
          <a:ln w="12700"><a:solidFill><a:srgbClr val="e2e8f0"/></a:solidFill></a:ln>
        </p:spPr>
        <p:txBody>
          <a:bodyPr/><a:lstStyle/>
          <a:p>
            <a:pPr algn="l"/>
            <a:r><a:rPr sz="1800" b="1"><a:solidFill><a:srgbClr val="0f172a"/></a:solidFill></a:rPr><a:t>Operational Metrics</a:t></a:r>
          </a:p>
          <a:p>
            <a:pPr algn="l"/>
            <a:r><a:rPr sz="1500"><a:solidFill><a:srgbClr val="334155"/></a:solidFill></a:rPr><a:t>High availability failover with sub-millisecond p99 latency guarantees.</a:t></a:r>
          </a:p>
          <a:p>
            <a:pPr algn="l"/>
            <a:r><a:rPr sz="1400"><a:solidFill><a:srgbClr val="16a34a"/></a:solidFill></a:rPr><a:t>✓ Status: Operational & Stable</a:t></a:r>
          </a:p>
        </p:txBody>
      </p:sp>
    </p:spTree>
  </p:cSld>
</p:sld>
</file>