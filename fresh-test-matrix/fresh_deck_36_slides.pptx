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Sz cx="9144000" cy="5143500"/>
  <p:sldIdLst>
    <p:sldId id="256" r:id="rIdSld1"/>
    <p:sldId id="257" r:id="rIdSld2"/>
    <p:sldId id="258" r:id="rIdSld3"/>
    <p:sldId id="259" r:id="rIdSld4"/>
    <p:sldId id="260" r:id="rIdSld5"/>
    <p:sldId id="261" r:id="rIdSld6"/>
    <p:sldId id="262" r:id="rIdSld7"/>
    <p:sldId id="263" r:id="rIdSld8"/>
    <p:sldId id="264" r:id="rIdSld9"/>
    <p:sldId id="265" r:id="rIdSld10"/>
    <p:sldId id="266" r:id="rIdSld11"/>
    <p:sldId id="267" r:id="rIdSld12"/>
    <p:sldId id="268" r:id="rIdSld13"/>
    <p:sldId id="269" r:id="rIdSld14"/>
    <p:sldId id="270" r:id="rIdSld15"/>
    <p:sldId id="271" r:id="rIdSld16"/>
    <p:sldId id="272" r:id="rIdSld17"/>
    <p:sldId id="273" r:id="rIdSld18"/>
    <p:sldId id="274" r:id="rIdSld19"/>
    <p:sldId id="275" r:id="rIdSld20"/>
    <p:sldId id="276" r:id="rIdSld21"/>
    <p:sldId id="277" r:id="rIdSld22"/>
    <p:sldId id="278" r:id="rIdSld23"/>
    <p:sldId id="279" r:id="rIdSld24"/>
    <p:sldId id="280" r:id="rIdSld25"/>
    <p:sldId id="281" r:id="rIdSld26"/>
    <p:sldId id="282" r:id="rIdSld27"/>
    <p:sldId id="283" r:id="rIdSld28"/>
    <p:sldId id="284" r:id="rIdSld29"/>
    <p:sldId id="285" r:id="rIdSld30"/>
    <p:sldId id="286" r:id="rIdSld31"/>
    <p:sldId id="287" r:id="rIdSld32"/>
    <p:sldId id="288" r:id="rIdSld33"/>
    <p:sldId id="289" r:id="rIdSld34"/>
    <p:sldId id="290" r:id="rIdSld35"/>
    <p:sldId id="291" r:id="rIdSld36"/>
  </p:sldIdLst>
</p:presentation>
</file>

<file path=ppt/_rels/presentation.xml.rels><?xml version="1.0" encoding="UTF-8" standalone="yes"?>
<Relationships xmlns="http://schemas.openxmlformats.org/package/2006/relationships">
  <Relationship Id="rIdSld1" Type="http://schemas.openxmlformats.org/officeDocument/2006/relationships/slide" Target="slides/slide1.xml"/><Relationship Id="rIdSld2" Type="http://schemas.openxmlformats.org/officeDocument/2006/relationships/slide" Target="slides/slide2.xml"/><Relationship Id="rIdSld3" Type="http://schemas.openxmlformats.org/officeDocument/2006/relationships/slide" Target="slides/slide3.xml"/><Relationship Id="rIdSld4" Type="http://schemas.openxmlformats.org/officeDocument/2006/relationships/slide" Target="slides/slide4.xml"/><Relationship Id="rIdSld5" Type="http://schemas.openxmlformats.org/officeDocument/2006/relationships/slide" Target="slides/slide5.xml"/><Relationship Id="rIdSld6" Type="http://schemas.openxmlformats.org/officeDocument/2006/relationships/slide" Target="slides/slide6.xml"/><Relationship Id="rIdSld7" Type="http://schemas.openxmlformats.org/officeDocument/2006/relationships/slide" Target="slides/slide7.xml"/><Relationship Id="rIdSld8" Type="http://schemas.openxmlformats.org/officeDocument/2006/relationships/slide" Target="slides/slide8.xml"/><Relationship Id="rIdSld9" Type="http://schemas.openxmlformats.org/officeDocument/2006/relationships/slide" Target="slides/slide9.xml"/><Relationship Id="rIdSld10" Type="http://schemas.openxmlformats.org/officeDocument/2006/relationships/slide" Target="slides/slide10.xml"/><Relationship Id="rIdSld11" Type="http://schemas.openxmlformats.org/officeDocument/2006/relationships/slide" Target="slides/slide11.xml"/><Relationship Id="rIdSld12" Type="http://schemas.openxmlformats.org/officeDocument/2006/relationships/slide" Target="slides/slide12.xml"/><Relationship Id="rIdSld13" Type="http://schemas.openxmlformats.org/officeDocument/2006/relationships/slide" Target="slides/slide13.xml"/><Relationship Id="rIdSld14" Type="http://schemas.openxmlformats.org/officeDocument/2006/relationships/slide" Target="slides/slide14.xml"/><Relationship Id="rIdSld15" Type="http://schemas.openxmlformats.org/officeDocument/2006/relationships/slide" Target="slides/slide15.xml"/><Relationship Id="rIdSld16" Type="http://schemas.openxmlformats.org/officeDocument/2006/relationships/slide" Target="slides/slide16.xml"/><Relationship Id="rIdSld17" Type="http://schemas.openxmlformats.org/officeDocument/2006/relationships/slide" Target="slides/slide17.xml"/><Relationship Id="rIdSld18" Type="http://schemas.openxmlformats.org/officeDocument/2006/relationships/slide" Target="slides/slide18.xml"/><Relationship Id="rIdSld19" Type="http://schemas.openxmlformats.org/officeDocument/2006/relationships/slide" Target="slides/slide19.xml"/><Relationship Id="rIdSld20" Type="http://schemas.openxmlformats.org/officeDocument/2006/relationships/slide" Target="slides/slide20.xml"/><Relationship Id="rIdSld21" Type="http://schemas.openxmlformats.org/officeDocument/2006/relationships/slide" Target="slides/slide21.xml"/><Relationship Id="rIdSld22" Type="http://schemas.openxmlformats.org/officeDocument/2006/relationships/slide" Target="slides/slide22.xml"/><Relationship Id="rIdSld23" Type="http://schemas.openxmlformats.org/officeDocument/2006/relationships/slide" Target="slides/slide23.xml"/><Relationship Id="rIdSld24" Type="http://schemas.openxmlformats.org/officeDocument/2006/relationships/slide" Target="slides/slide24.xml"/><Relationship Id="rIdSld25" Type="http://schemas.openxmlformats.org/officeDocument/2006/relationships/slide" Target="slides/slide25.xml"/><Relationship Id="rIdSld26" Type="http://schemas.openxmlformats.org/officeDocument/2006/relationships/slide" Target="slides/slide26.xml"/><Relationship Id="rIdSld27" Type="http://schemas.openxmlformats.org/officeDocument/2006/relationships/slide" Target="slides/slide27.xml"/><Relationship Id="rIdSld28" Type="http://schemas.openxmlformats.org/officeDocument/2006/relationships/slide" Target="slides/slide28.xml"/><Relationship Id="rIdSld29" Type="http://schemas.openxmlformats.org/officeDocument/2006/relationships/slide" Target="slides/slide29.xml"/><Relationship Id="rIdSld30" Type="http://schemas.openxmlformats.org/officeDocument/2006/relationships/slide" Target="slides/slide30.xml"/><Relationship Id="rIdSld31" Type="http://schemas.openxmlformats.org/officeDocument/2006/relationships/slide" Target="slides/slide31.xml"/><Relationship Id="rIdSld32" Type="http://schemas.openxmlformats.org/officeDocument/2006/relationships/slide" Target="slides/slide32.xml"/><Relationship Id="rIdSld33" Type="http://schemas.openxmlformats.org/officeDocument/2006/relationships/slide" Target="slides/slide33.xml"/><Relationship Id="rIdSld34" Type="http://schemas.openxmlformats.org/officeDocument/2006/relationships/slide" Target="slides/slide34.xml"/><Relationship Id="rIdSld35" Type="http://schemas.openxmlformats.org/officeDocument/2006/relationships/slide" Target="slides/slide35.xml"/><Relationship Id="rIdSld36" Type="http://schemas.openxmlformats.org/officeDocument/2006/relationships/slide" Target="slides/slide36.xml"/>
</Relationships>
</file>

<file path=ppt/slides/_rels/slide1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
</Relationships>
</file>

<file path=ppt/slides/_rels/slide3.xml.rels><?xml version="1.0" encoding="UTF-8" standalone="yes"?>
<Relationships xmlns="http://schemas.openxmlformats.org/package/2006/relationships">
  
</Relationships>
</file>

<file path=ppt/slides/_rels/slide4.xml.rels><?xml version="1.0" encoding="UTF-8" standalone="yes"?>
<Relationships xmlns="http://schemas.openxmlformats.org/package/2006/relationships">
  
</Relationships>
</file>

<file path=ppt/slides/_rels/slide5.xml.rels><?xml version="1.0" encoding="UTF-8" standalone="yes"?>
<Relationships xmlns="http://schemas.openxmlformats.org/package/2006/relationships">
  
</Relationships>
</file>

<file path=ppt/slides/_rels/slide6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
</Relationships>
</file>

<file path=ppt/slides/_rels/slide8.xml.rels><?xml version="1.0" encoding="UTF-8" standalone="yes"?>
<Relationships xmlns="http://schemas.openxmlformats.org/package/2006/relationships">
  
</Relationships>
</file>

<file path=ppt/slides/_rels/slide9.xml.rels><?xml version="1.0" encoding="UTF-8" standalone="yes"?>
<Relationships xmlns="http://schemas.openxmlformats.org/package/2006/relationships">
  
</Relationships>
</file>

<file path=ppt/slides/_rels/slide10.xml.rels><?xml version="1.0" encoding="UTF-8" standalone="yes"?>
<Relationships xmlns="http://schemas.openxmlformats.org/package/2006/relationships">
  
</Relationships>
</file>

<file path=ppt/slides/_rels/slide11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_rels/slide12.xml.rels><?xml version="1.0" encoding="UTF-8" standalone="yes"?>
<Relationships xmlns="http://schemas.openxmlformats.org/package/2006/relationships">
  
</Relationships>
</file>

<file path=ppt/slides/_rels/slide13.xml.rels><?xml version="1.0" encoding="UTF-8" standalone="yes"?>
<Relationships xmlns="http://schemas.openxmlformats.org/package/2006/relationships">
  
</Relationships>
</file>

<file path=ppt/slides/_rels/slide14.xml.rels><?xml version="1.0" encoding="UTF-8" standalone="yes"?>
<Relationships xmlns="http://schemas.openxmlformats.org/package/2006/relationships">
  
</Relationships>
</file>

<file path=ppt/slides/_rels/slide15.xml.rels><?xml version="1.0" encoding="UTF-8" standalone="yes"?>
<Relationships xmlns="http://schemas.openxmlformats.org/package/2006/relationships">
  
</Relationships>
</file>

<file path=ppt/slides/_rels/slide16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_rels/slide17.xml.rels><?xml version="1.0" encoding="UTF-8" standalone="yes"?>
<Relationships xmlns="http://schemas.openxmlformats.org/package/2006/relationships">
  
</Relationships>
</file>

<file path=ppt/slides/_rels/slide18.xml.rels><?xml version="1.0" encoding="UTF-8" standalone="yes"?>
<Relationships xmlns="http://schemas.openxmlformats.org/package/2006/relationships">
  
</Relationships>
</file>

<file path=ppt/slides/_rels/slide19.xml.rels><?xml version="1.0" encoding="UTF-8" standalone="yes"?>
<Relationships xmlns="http://schemas.openxmlformats.org/package/2006/relationships">
  
</Relationships>
</file>

<file path=ppt/slides/_rels/slide20.xml.rels><?xml version="1.0" encoding="UTF-8" standalone="yes"?>
<Relationships xmlns="http://schemas.openxmlformats.org/package/2006/relationships">
  
</Relationships>
</file>

<file path=ppt/slides/_rels/slide21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_rels/slide22.xml.rels><?xml version="1.0" encoding="UTF-8" standalone="yes"?>
<Relationships xmlns="http://schemas.openxmlformats.org/package/2006/relationships">
  
</Relationships>
</file>

<file path=ppt/slides/_rels/slide23.xml.rels><?xml version="1.0" encoding="UTF-8" standalone="yes"?>
<Relationships xmlns="http://schemas.openxmlformats.org/package/2006/relationships">
  
</Relationships>
</file>

<file path=ppt/slides/_rels/slide24.xml.rels><?xml version="1.0" encoding="UTF-8" standalone="yes"?>
<Relationships xmlns="http://schemas.openxmlformats.org/package/2006/relationships">
  
</Relationships>
</file>

<file path=ppt/slides/_rels/slide25.xml.rels><?xml version="1.0" encoding="UTF-8" standalone="yes"?>
<Relationships xmlns="http://schemas.openxmlformats.org/package/2006/relationships">
  
</Relationships>
</file>

<file path=ppt/slides/_rels/slide26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_rels/slide27.xml.rels><?xml version="1.0" encoding="UTF-8" standalone="yes"?>
<Relationships xmlns="http://schemas.openxmlformats.org/package/2006/relationships">
  
</Relationships>
</file>

<file path=ppt/slides/_rels/slide28.xml.rels><?xml version="1.0" encoding="UTF-8" standalone="yes"?>
<Relationships xmlns="http://schemas.openxmlformats.org/package/2006/relationships">
  
</Relationships>
</file>

<file path=ppt/slides/_rels/slide29.xml.rels><?xml version="1.0" encoding="UTF-8" standalone="yes"?>
<Relationships xmlns="http://schemas.openxmlformats.org/package/2006/relationships">
  
</Relationships>
</file>

<file path=ppt/slides/_rels/slide30.xml.rels><?xml version="1.0" encoding="UTF-8" standalone="yes"?>
<Relationships xmlns="http://schemas.openxmlformats.org/package/2006/relationships">
  
</Relationships>
</file>

<file path=ppt/slides/_rels/slide31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_rels/slide32.xml.rels><?xml version="1.0" encoding="UTF-8" standalone="yes"?>
<Relationships xmlns="http://schemas.openxmlformats.org/package/2006/relationships">
  
</Relationships>
</file>

<file path=ppt/slides/_rels/slide33.xml.rels><?xml version="1.0" encoding="UTF-8" standalone="yes"?>
<Relationships xmlns="http://schemas.openxmlformats.org/package/2006/relationships">
  
</Relationships>
</file>

<file path=ppt/slides/_rels/slide34.xml.rels><?xml version="1.0" encoding="UTF-8" standalone="yes"?>
<Relationships xmlns="http://schemas.openxmlformats.org/package/2006/relationships">
  
</Relationships>
</file>

<file path=ppt/slides/_rels/slide35.xml.rels><?xml version="1.0" encoding="UTF-8" standalone="yes"?>
<Relationships xmlns="http://schemas.openxmlformats.org/package/2006/relationships">
  
</Relationships>
</file>

<file path=ppt/slides/_rels/slide36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1: Enterprise Architecture &amp; Scalability</a:t>
            </a:r>
          </a:p>
        </p:txBody>
      </p:sp>
      <!-- Table graphicFrame -->
      <p:graphicFrame>
        <p:nvGraphicFramePr>
          <p:cNvPr id="3" name="Table Grid"/>
          <p:cNvGraphicFramePr/>
          <p:nvPr/>
        </p:nvGraphicFramePr>
        <p:xfrm>
          <a:off x="685800" y="1371600"/>
          <a:ext cx="7772400" cy="2743200"/>
        </p:xfrm>
        <a:graphic>
          <a:graphicData uri="http://schemas.openxmlformats.org/drawingml/2006/table">
            <a:tbl>
              <a:tblGrid>
                <a:gridCol w="2590800"/>
                <a:gridCol w="2590800"/>
                <a:gridCol w="2590800"/>
              </a:tblGrid>
              <a:tr h="685800">
                <a:tc>
                  <a:txBody>
                    <a:bodyPr/>
                    <a:p>
                      <a:r>
                        <a:rPr b="1"/>
                        <a:t>Metric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Baseline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Target 2026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Client Latency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240 ms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4.2 ms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Cloud Egress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$128,000 / mo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$0.00 (Zero)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2: Universal Client-Side File Rendering</a:t></a:r>
          </a:p>
          <a:p>
            <a:pPr algn="l"/>
            <a:r><a:rPr sz="1400"><a:solidFill><a:srgbClr val="94a3b8"/></a:solidFill></a:rPr><a:t>Slide 2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3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0f766e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3: Low-Latency Binary Stream Parsing</a:t></a:r>
          </a:p>
          <a:p>
            <a:pPr algn="l"/>
            <a:r><a:rPr sz="1400"><a:solidFill><a:srgbClr val="94a3b8"/></a:solidFill></a:rPr><a:t>Slide 3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4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701a75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4: Zero-Cloud Egress Security Paradigm</a:t></a:r>
          </a:p>
          <a:p>
            <a:pPr algn="l"/>
            <a:r><a:rPr sz="1400"><a:solidFill><a:srgbClr val="94a3b8"/></a:solidFill></a:rPr><a:t>Slide 4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5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5: Decentralized Consensus Protocol</a:t></a:r>
          </a:p>
          <a:p>
            <a:pPr algn="l"/>
            <a:r><a:rPr sz="1400"><a:solidFill><a:srgbClr val="94a3b8"/></a:solidFill></a:rPr><a:t>Slide 5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6: Distributed Event Streaming Topology</a:t>
            </a:r>
          </a:p>
        </p:txBody>
      </p:sp>
      <!-- Text Description -->
      <p:sp>
        <p:nvSpPr>
          <p:cNvPr id="3" name="Description"/>
          <p:cNvSpPr/>
          <p:nvPr/>
        </p:nvSpPr>
        <p:spPr>
          <a:xfrm>
            <a:off x="685800" y="1371600"/>
            <a:ext cx="4343400" cy="3200400"/>
          </a:xfrm>
        </p:spPr>
        <p:txBody>
          <a:bodyPr/>
          <a:lstStyle/>
          <a:p>
            <a:pPr algn="l"/>
            <a:r>
              <a:rPr sz="1800"/>
              <a:t>Part I - Strategic Foundation: Verified client-side rendering with zero dependency on cloud conversion servers.</a:t>
            </a:r>
          </a:p>
          <a:p>
            <a:pPr algn="l"/>
            <a:r>
              <a:rPr sz="1600" b="1"/>
              <a:t>• Architecture: Zero-copy in-memory rendering</a:t>
            </a:r>
          </a:p>
          <a:p>
            <a:pPr algn="l"/>
            <a:r>
              <a:rPr sz="1600"/>
              <a:t>• Security: Sandboxed client-side processing</a:t>
            </a:r>
          </a:p>
        </p:txBody>
      </p:sp>
      <!-- Picture -->
      <p:pic>
        <p:nvPicPr>
          <p:cNvPr id="4" name="Visual Image"/>
          <p:cNvPicPr/>
          <p:nvPr/>
        </p:nvPicPr>
        <p:blipFill>
          <a:blip r:embed="rIdImg1"/>
          <a:stretch>
            <a:fillRect/>
          </a:stretch>
        </p:blipFill>
        <p:spPr>
          <a:xfrm>
            <a:off x="5257800" y="1371600"/>
            <a:ext cx="3200400" cy="2743200"/>
          </a:xfrm>
        </p:spPr>
      </p:pic>
    </p:spTree>
  </p:cSld>
</p:sld>
</file>

<file path=ppt/slides/slide7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0f766e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7: Fault-Tolerant High-Availability Clusters</a:t></a:r>
          </a:p>
          <a:p>
            <a:pPr algn="l"/>
            <a:r><a:rPr sz="1400"><a:solidFill><a:srgbClr val="94a3b8"/></a:solidFill></a:rPr><a:t>Slide 7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8: High-Throughput IO Virtualization</a:t>
            </a:r>
          </a:p>
        </p:txBody>
      </p:sp>
      <!-- Table graphicFrame -->
      <p:graphicFrame>
        <p:nvGraphicFramePr>
          <p:cNvPr id="3" name="Table Grid"/>
          <p:cNvGraphicFramePr/>
          <p:nvPr/>
        </p:nvGraphicFramePr>
        <p:xfrm>
          <a:off x="685800" y="1371600"/>
          <a:ext cx="7772400" cy="2743200"/>
        </p:xfrm>
        <a:graphic>
          <a:graphicData uri="http://schemas.openxmlformats.org/drawingml/2006/table">
            <a:tbl>
              <a:tblGrid>
                <a:gridCol w="2590800"/>
                <a:gridCol w="2590800"/>
                <a:gridCol w="2590800"/>
              </a:tblGrid>
              <a:tr h="685800">
                <a:tc>
                  <a:txBody>
                    <a:bodyPr/>
                    <a:p>
                      <a:r>
                        <a:rPr b="1"/>
                        <a:t>Metric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Baseline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Target 2026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Client Latency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240 ms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4.2 ms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Cloud Egress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$128,000 / mo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$0.00 (Zero)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9: Vector Math &amp; Graphic Acceleration</a:t></a:r>
          </a:p>
          <a:p>
            <a:pPr algn="l"/>
            <a:r><a:rPr sz="1400"><a:solidFill><a:srgbClr val="94a3b8"/></a:solidFill></a:rPr><a:t>Slide 9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0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10: Real-Time Telemetry &amp; Monitoring Matrix</a:t></a:r>
          </a:p>
          <a:p>
            <a:pPr algn="l"/>
            <a:r><a:rPr sz="1400"><a:solidFill><a:srgbClr val="94a3b8"/></a:solidFill></a:rPr><a:t>Slide 10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11: Cryptographic Integrity &amp; SHA-256 Assurance</a:t>
            </a:r>
          </a:p>
        </p:txBody>
      </p:sp>
      <!-- Text Description -->
      <p:sp>
        <p:nvSpPr>
          <p:cNvPr id="3" name="Description"/>
          <p:cNvSpPr/>
          <p:nvPr/>
        </p:nvSpPr>
        <p:spPr>
          <a:xfrm>
            <a:off x="685800" y="1371600"/>
            <a:ext cx="4343400" cy="3200400"/>
          </a:xfrm>
        </p:spPr>
        <p:txBody>
          <a:bodyPr/>
          <a:lstStyle/>
          <a:p>
            <a:pPr algn="l"/>
            <a:r>
              <a:rPr sz="1800"/>
              <a:t>Part I - Strategic Foundation: Verified client-side rendering with zero dependency on cloud conversion servers.</a:t>
            </a:r>
          </a:p>
          <a:p>
            <a:pPr algn="l"/>
            <a:r>
              <a:rPr sz="1600" b="1"/>
              <a:t>• Architecture: Zero-copy in-memory rendering</a:t>
            </a:r>
          </a:p>
          <a:p>
            <a:pPr algn="l"/>
            <a:r>
              <a:rPr sz="1600"/>
              <a:t>• Security: Sandboxed client-side processing</a:t>
            </a:r>
          </a:p>
        </p:txBody>
      </p:sp>
      <!-- Picture -->
      <p:pic>
        <p:nvPicPr>
          <p:cNvPr id="4" name="Visual Image"/>
          <p:cNvPicPr/>
          <p:nvPr/>
        </p:nvPicPr>
        <p:blipFill>
          <a:blip r:embed="rIdImg1"/>
          <a:stretch>
            <a:fillRect/>
          </a:stretch>
        </p:blipFill>
        <p:spPr>
          <a:xfrm>
            <a:off x="5257800" y="1371600"/>
            <a:ext cx="3200400" cy="2743200"/>
          </a:xfrm>
        </p:spPr>
      </p:pic>
    </p:spTree>
  </p:cSld>
</p:sld>
</file>

<file path=ppt/slides/slide12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701a75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12: Cross-Platform Web Worker Orchestration</a:t></a:r>
          </a:p>
          <a:p>
            <a:pPr algn="l"/>
            <a:r><a:rPr sz="1400"><a:solidFill><a:srgbClr val="94a3b8"/></a:solidFill></a:rPr><a:t>Slide 12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3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13: Multi-Tenant Memory Isolation Bounds</a:t></a:r>
          </a:p>
          <a:p>
            <a:pPr algn="l"/>
            <a:r><a:rPr sz="1400"><a:solidFill><a:srgbClr val="94a3b8"/></a:solidFill></a:rPr><a:t>Slide 13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4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14: Microsecond P99 SLA Enforcement</a:t></a:r>
          </a:p>
          <a:p>
            <a:pPr algn="l"/>
            <a:r><a:rPr sz="1400"><a:solidFill><a:srgbClr val="94a3b8"/></a:solidFill></a:rPr><a:t>Slide 14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15: Dynamic Resource Allocation &amp; Caching</a:t>
            </a:r>
          </a:p>
        </p:txBody>
      </p:sp>
      <!-- Table graphicFrame -->
      <p:graphicFrame>
        <p:nvGraphicFramePr>
          <p:cNvPr id="3" name="Table Grid"/>
          <p:cNvGraphicFramePr/>
          <p:nvPr/>
        </p:nvGraphicFramePr>
        <p:xfrm>
          <a:off x="685800" y="1371600"/>
          <a:ext cx="7772400" cy="2743200"/>
        </p:xfrm>
        <a:graphic>
          <a:graphicData uri="http://schemas.openxmlformats.org/drawingml/2006/table">
            <a:tbl>
              <a:tblGrid>
                <a:gridCol w="2590800"/>
                <a:gridCol w="2590800"/>
                <a:gridCol w="2590800"/>
              </a:tblGrid>
              <a:tr h="685800">
                <a:tc>
                  <a:txBody>
                    <a:bodyPr/>
                    <a:p>
                      <a:r>
                        <a:rPr b="1"/>
                        <a:t>Metric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Baseline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Target 2026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Client Latency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240 ms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4.2 ms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Cloud Egress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$128,000 / mo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$0.00 (Zero)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16: Immutable Ledger Audit Sequences</a:t>
            </a:r>
          </a:p>
        </p:txBody>
      </p:sp>
      <!-- Text Description -->
      <p:sp>
        <p:nvSpPr>
          <p:cNvPr id="3" name="Description"/>
          <p:cNvSpPr/>
          <p:nvPr/>
        </p:nvSpPr>
        <p:spPr>
          <a:xfrm>
            <a:off x="685800" y="1371600"/>
            <a:ext cx="4343400" cy="3200400"/>
          </a:xfrm>
        </p:spPr>
        <p:txBody>
          <a:bodyPr/>
          <a:lstStyle/>
          <a:p>
            <a:pPr algn="l"/>
            <a:r>
              <a:rPr sz="1800"/>
              <a:t>Part I - Strategic Foundation: Verified client-side rendering with zero dependency on cloud conversion servers.</a:t>
            </a:r>
          </a:p>
          <a:p>
            <a:pPr algn="l"/>
            <a:r>
              <a:rPr sz="1600" b="1"/>
              <a:t>• Architecture: Zero-copy in-memory rendering</a:t>
            </a:r>
          </a:p>
          <a:p>
            <a:pPr algn="l"/>
            <a:r>
              <a:rPr sz="1600"/>
              <a:t>• Security: Sandboxed client-side processing</a:t>
            </a:r>
          </a:p>
        </p:txBody>
      </p:sp>
      <!-- Picture -->
      <p:pic>
        <p:nvPicPr>
          <p:cNvPr id="4" name="Visual Image"/>
          <p:cNvPicPr/>
          <p:nvPr/>
        </p:nvPicPr>
        <p:blipFill>
          <a:blip r:embed="rIdImg1"/>
          <a:stretch>
            <a:fillRect/>
          </a:stretch>
        </p:blipFill>
        <p:spPr>
          <a:xfrm>
            <a:off x="5257800" y="1371600"/>
            <a:ext cx="3200400" cy="2743200"/>
          </a:xfrm>
        </p:spPr>
      </p:pic>
    </p:spTree>
  </p:cSld>
</p:sld>
</file>

<file path=ppt/slides/slide17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17: Adaptive Content Layout &amp; Responsive Zoom</a:t></a:r>
          </a:p>
          <a:p>
            <a:pPr algn="l"/>
            <a:r><a:rPr sz="1400"><a:solidFill><a:srgbClr val="94a3b8"/></a:solidFill></a:rPr><a:t>Slide 17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8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18: Next-Gen Product Roadmap &amp; Milestone Horizon</a:t></a:r>
          </a:p>
          <a:p>
            <a:pPr algn="l"/>
            <a:r><a:rPr sz="1400"><a:solidFill><a:srgbClr val="94a3b8"/></a:solidFill></a:rPr><a:t>Slide 18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 - Strategic Foundation: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9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0f766e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19: Enterprise Architecture &amp; Scalability</a:t></a:r>
          </a:p>
          <a:p>
            <a:pPr algn="l"/>
            <a:r><a:rPr sz="1400"><a:solidFill><a:srgbClr val="94a3b8"/></a:solidFill></a:rPr><a:t>Slide 19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20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701a75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20: Universal Client-Side File Rendering</a:t></a:r>
          </a:p>
          <a:p>
            <a:pPr algn="l"/>
            <a:r><a:rPr sz="1400"><a:solidFill><a:srgbClr val="94a3b8"/></a:solidFill></a:rPr><a:t>Slide 20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21: Low-Latency Binary Stream Parsing</a:t>
            </a:r>
          </a:p>
        </p:txBody>
      </p:sp>
      <!-- Text Description -->
      <p:sp>
        <p:nvSpPr>
          <p:cNvPr id="3" name="Description"/>
          <p:cNvSpPr/>
          <p:nvPr/>
        </p:nvSpPr>
        <p:spPr>
          <a:xfrm>
            <a:off x="685800" y="1371600"/>
            <a:ext cx="4343400" cy="3200400"/>
          </a:xfrm>
        </p:spPr>
        <p:txBody>
          <a:bodyPr/>
          <a:lstStyle/>
          <a:p>
            <a:pPr algn="l"/>
            <a:r>
              <a:rPr sz="1800"/>
              <a:t>Part II - Execution &amp; Telemetry: Verified client-side rendering with zero dependency on cloud conversion servers.</a:t>
            </a:r>
          </a:p>
          <a:p>
            <a:pPr algn="l"/>
            <a:r>
              <a:rPr sz="1600" b="1"/>
              <a:t>• Architecture: Zero-copy in-memory rendering</a:t>
            </a:r>
          </a:p>
          <a:p>
            <a:pPr algn="l"/>
            <a:r>
              <a:rPr sz="1600"/>
              <a:t>• Security: Sandboxed client-side processing</a:t>
            </a:r>
          </a:p>
        </p:txBody>
      </p:sp>
      <!-- Picture -->
      <p:pic>
        <p:nvPicPr>
          <p:cNvPr id="4" name="Visual Image"/>
          <p:cNvPicPr/>
          <p:nvPr/>
        </p:nvPicPr>
        <p:blipFill>
          <a:blip r:embed="rIdImg1"/>
          <a:stretch>
            <a:fillRect/>
          </a:stretch>
        </p:blipFill>
        <p:spPr>
          <a:xfrm>
            <a:off x="5257800" y="1371600"/>
            <a:ext cx="3200400" cy="2743200"/>
          </a:xfrm>
        </p:spPr>
      </p:pic>
    </p:spTree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22: Zero-Cloud Egress Security Paradigm</a:t>
            </a:r>
          </a:p>
        </p:txBody>
      </p:sp>
      <!-- Table graphicFrame -->
      <p:graphicFrame>
        <p:nvGraphicFramePr>
          <p:cNvPr id="3" name="Table Grid"/>
          <p:cNvGraphicFramePr/>
          <p:nvPr/>
        </p:nvGraphicFramePr>
        <p:xfrm>
          <a:off x="685800" y="1371600"/>
          <a:ext cx="7772400" cy="2743200"/>
        </p:xfrm>
        <a:graphic>
          <a:graphicData uri="http://schemas.openxmlformats.org/drawingml/2006/table">
            <a:tbl>
              <a:tblGrid>
                <a:gridCol w="2590800"/>
                <a:gridCol w="2590800"/>
                <a:gridCol w="2590800"/>
              </a:tblGrid>
              <a:tr h="685800">
                <a:tc>
                  <a:txBody>
                    <a:bodyPr/>
                    <a:p>
                      <a:r>
                        <a:rPr b="1"/>
                        <a:t>Metric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Baseline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Target 2026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Client Latency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240 ms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4.2 ms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Cloud Egress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$128,000 / mo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$0.00 (Zero)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0f766e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23: Decentralized Consensus Protocol</a:t></a:r>
          </a:p>
          <a:p>
            <a:pPr algn="l"/>
            <a:r><a:rPr sz="1400"><a:solidFill><a:srgbClr val="94a3b8"/></a:solidFill></a:rPr><a:t>Slide 23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24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701a75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24: Distributed Event Streaming Topology</a:t></a:r>
          </a:p>
          <a:p>
            <a:pPr algn="l"/>
            <a:r><a:rPr sz="1400"><a:solidFill><a:srgbClr val="94a3b8"/></a:solidFill></a:rPr><a:t>Slide 24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25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25: Fault-Tolerant High-Availability Clusters</a:t></a:r>
          </a:p>
          <a:p>
            <a:pPr algn="l"/>
            <a:r><a:rPr sz="1400"><a:solidFill><a:srgbClr val="94a3b8"/></a:solidFill></a:rPr><a:t>Slide 25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26: High-Throughput IO Virtualization</a:t>
            </a:r>
          </a:p>
        </p:txBody>
      </p:sp>
      <!-- Text Description -->
      <p:sp>
        <p:nvSpPr>
          <p:cNvPr id="3" name="Description"/>
          <p:cNvSpPr/>
          <p:nvPr/>
        </p:nvSpPr>
        <p:spPr>
          <a:xfrm>
            <a:off x="685800" y="1371600"/>
            <a:ext cx="4343400" cy="3200400"/>
          </a:xfrm>
        </p:spPr>
        <p:txBody>
          <a:bodyPr/>
          <a:lstStyle/>
          <a:p>
            <a:pPr algn="l"/>
            <a:r>
              <a:rPr sz="1800"/>
              <a:t>Part II - Execution &amp; Telemetry: Verified client-side rendering with zero dependency on cloud conversion servers.</a:t>
            </a:r>
          </a:p>
          <a:p>
            <a:pPr algn="l"/>
            <a:r>
              <a:rPr sz="1600" b="1"/>
              <a:t>• Architecture: Zero-copy in-memory rendering</a:t>
            </a:r>
          </a:p>
          <a:p>
            <a:pPr algn="l"/>
            <a:r>
              <a:rPr sz="1600"/>
              <a:t>• Security: Sandboxed client-side processing</a:t>
            </a:r>
          </a:p>
        </p:txBody>
      </p:sp>
      <!-- Picture -->
      <p:pic>
        <p:nvPicPr>
          <p:cNvPr id="4" name="Visual Image"/>
          <p:cNvPicPr/>
          <p:nvPr/>
        </p:nvPicPr>
        <p:blipFill>
          <a:blip r:embed="rIdImg1"/>
          <a:stretch>
            <a:fillRect/>
          </a:stretch>
        </p:blipFill>
        <p:spPr>
          <a:xfrm>
            <a:off x="5257800" y="1371600"/>
            <a:ext cx="3200400" cy="2743200"/>
          </a:xfrm>
        </p:spPr>
      </p:pic>
    </p:spTree>
  </p:cSld>
</p:sld>
</file>

<file path=ppt/slides/slide27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0f766e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27: Vector Math &amp; Graphic Acceleration</a:t></a:r>
          </a:p>
          <a:p>
            <a:pPr algn="l"/>
            <a:r><a:rPr sz="1400"><a:solidFill><a:srgbClr val="94a3b8"/></a:solidFill></a:rPr><a:t>Slide 27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28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701a75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28: Real-Time Telemetry &amp; Monitoring Matrix</a:t></a:r>
          </a:p>
          <a:p>
            <a:pPr algn="l"/>
            <a:r><a:rPr sz="1400"><a:solidFill><a:srgbClr val="94a3b8"/></a:solidFill></a:rPr><a:t>Slide 28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29: Cryptographic Integrity &amp; SHA-256 Assurance</a:t>
            </a:r>
          </a:p>
        </p:txBody>
      </p:sp>
      <!-- Table graphicFrame -->
      <p:graphicFrame>
        <p:nvGraphicFramePr>
          <p:cNvPr id="3" name="Table Grid"/>
          <p:cNvGraphicFramePr/>
          <p:nvPr/>
        </p:nvGraphicFramePr>
        <p:xfrm>
          <a:off x="685800" y="1371600"/>
          <a:ext cx="7772400" cy="2743200"/>
        </p:xfrm>
        <a:graphic>
          <a:graphicData uri="http://schemas.openxmlformats.org/drawingml/2006/table">
            <a:tbl>
              <a:tblGrid>
                <a:gridCol w="2590800"/>
                <a:gridCol w="2590800"/>
                <a:gridCol w="2590800"/>
              </a:tblGrid>
              <a:tr h="685800">
                <a:tc>
                  <a:txBody>
                    <a:bodyPr/>
                    <a:p>
                      <a:r>
                        <a:rPr b="1"/>
                        <a:t>Metric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Baseline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Target 2026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Client Latency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240 ms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4.2 ms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Cloud Egress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$128,000 / mo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$0.00 (Zero)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30: Cross-Platform Web Worker Orchestration</a:t></a:r>
          </a:p>
          <a:p>
            <a:pPr algn="l"/>
            <a:r><a:rPr sz="1400"><a:solidFill><a:srgbClr val="94a3b8"/></a:solidFill></a:rPr><a:t>Slide 30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31: Multi-Tenant Memory Isolation Bounds</a:t>
            </a:r>
          </a:p>
        </p:txBody>
      </p:sp>
      <!-- Text Description -->
      <p:sp>
        <p:nvSpPr>
          <p:cNvPr id="3" name="Description"/>
          <p:cNvSpPr/>
          <p:nvPr/>
        </p:nvSpPr>
        <p:spPr>
          <a:xfrm>
            <a:off x="685800" y="1371600"/>
            <a:ext cx="4343400" cy="3200400"/>
          </a:xfrm>
        </p:spPr>
        <p:txBody>
          <a:bodyPr/>
          <a:lstStyle/>
          <a:p>
            <a:pPr algn="l"/>
            <a:r>
              <a:rPr sz="1800"/>
              <a:t>Part II - Execution &amp; Telemetry: Verified client-side rendering with zero dependency on cloud conversion servers.</a:t>
            </a:r>
          </a:p>
          <a:p>
            <a:pPr algn="l"/>
            <a:r>
              <a:rPr sz="1600" b="1"/>
              <a:t>• Architecture: Zero-copy in-memory rendering</a:t>
            </a:r>
          </a:p>
          <a:p>
            <a:pPr algn="l"/>
            <a:r>
              <a:rPr sz="1600"/>
              <a:t>• Security: Sandboxed client-side processing</a:t>
            </a:r>
          </a:p>
        </p:txBody>
      </p:sp>
      <!-- Picture -->
      <p:pic>
        <p:nvPicPr>
          <p:cNvPr id="4" name="Visual Image"/>
          <p:cNvPicPr/>
          <p:nvPr/>
        </p:nvPicPr>
        <p:blipFill>
          <a:blip r:embed="rIdImg1"/>
          <a:stretch>
            <a:fillRect/>
          </a:stretch>
        </p:blipFill>
        <p:spPr>
          <a:xfrm>
            <a:off x="5257800" y="1371600"/>
            <a:ext cx="3200400" cy="2743200"/>
          </a:xfrm>
        </p:spPr>
      </p:pic>
    </p:spTree>
  </p:cSld>
</p:sld>
</file>

<file path=ppt/slides/slide32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701a75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32: Microsecond P99 SLA Enforcement</a:t></a:r>
          </a:p>
          <a:p>
            <a:pPr algn="l"/>
            <a:r><a:rPr sz="1400"><a:solidFill><a:srgbClr val="94a3b8"/></a:solidFill></a:rPr><a:t>Slide 32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33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33: Dynamic Resource Allocation &amp; Caching</a:t></a:r>
          </a:p>
          <a:p>
            <a:pPr algn="l"/>
            <a:r><a:rPr sz="1400"><a:solidFill><a:srgbClr val="94a3b8"/></a:solidFill></a:rPr><a:t>Slide 33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34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34: Immutable Ledger Audit Sequences</a:t></a:r>
          </a:p>
          <a:p>
            <a:pPr algn="l"/>
            <a:r><a:rPr sz="1400"><a:solidFill><a:srgbClr val="94a3b8"/></a:solidFill></a:rPr><a:t>Slide 34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35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0f766e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Slide 35: Adaptive Content Layout &amp; Responsive Zoom</a:t></a:r>
          </a:p>
          <a:p>
            <a:pPr algn="l"/>
            <a:r><a:rPr sz="1400"><a:solidFill><a:srgbClr val="94a3b8"/></a:solidFill></a:rPr><a:t>Slide 35 of 36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Part II - Execution &amp; Telemetry: Verified client-side rendering with zero dependency on cloud conversion servers.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Slide 36: Next-Gen Product Roadmap &amp; Milestone Horizon</a:t>
            </a:r>
          </a:p>
        </p:txBody>
      </p:sp>
      <!-- Table graphicFrame -->
      <p:graphicFrame>
        <p:nvGraphicFramePr>
          <p:cNvPr id="3" name="Table Grid"/>
          <p:cNvGraphicFramePr/>
          <p:nvPr/>
        </p:nvGraphicFramePr>
        <p:xfrm>
          <a:off x="685800" y="1371600"/>
          <a:ext cx="7772400" cy="2743200"/>
        </p:xfrm>
        <a:graphic>
          <a:graphicData uri="http://schemas.openxmlformats.org/drawingml/2006/table">
            <a:tbl>
              <a:tblGrid>
                <a:gridCol w="2590800"/>
                <a:gridCol w="2590800"/>
                <a:gridCol w="2590800"/>
              </a:tblGrid>
              <a:tr h="685800">
                <a:tc>
                  <a:txBody>
                    <a:bodyPr/>
                    <a:p>
                      <a:r>
                        <a:rPr b="1"/>
                        <a:t>Metric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Baseline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Target 2026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Client Latency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240 ms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4.2 ms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Cloud Egress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$128,000 / mo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$0.00 (Zero)</a:t>
                      </a:r>
                    </a:p>
                  </a:txBody>
                </a:tc>
              </a:tr>
            </a:tbl>
          </a:graphicData>
        </a:graphic>
      </p:graphicFrame>
    </p:spTree>
  </p:cSld>
</p:sld>
</file>